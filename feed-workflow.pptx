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4206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SYSTEM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Update Workflow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8F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walkthrough of fan-out, similarity propagation, and ZSET writes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4754880"/>
            <a:ext cx="5943600" cy="914400"/>
          </a:xfrm>
          <a:prstGeom prst="rect">
            <a:avLst/>
          </a:prstGeom>
          <a:solidFill>
            <a:srgbClr val="12233D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4754880"/>
            <a:ext cx="73152" cy="9144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48280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512064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post created  →  FeedUpdateWorkflow(postID)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63550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A7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▶ to walk through →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F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steps. Per-post permanent score. Per-recipient distance attenuation. Stable ZSET.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566160" cy="2103120"/>
          </a:xfrm>
          <a:prstGeom prst="rect">
            <a:avLst/>
          </a:prstGeom>
          <a:solidFill>
            <a:srgbClr val="12233D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73152" cy="21031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783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1645920" y="1920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Post Score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45920" y="2423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Wilson + freshness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2004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5A7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next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51960" y="1554480"/>
            <a:ext cx="3566160" cy="2103120"/>
          </a:xfrm>
          <a:prstGeom prst="rect">
            <a:avLst/>
          </a:prstGeom>
          <a:solidFill>
            <a:srgbClr val="12233D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51960" y="1554480"/>
            <a:ext cx="73152" cy="21031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1783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5600" dirty="0"/>
          </a:p>
        </p:txBody>
      </p:sp>
      <p:sp>
        <p:nvSpPr>
          <p:cNvPr id="13" name="Text 11"/>
          <p:cNvSpPr/>
          <p:nvPr/>
        </p:nvSpPr>
        <p:spPr>
          <a:xfrm>
            <a:off x="5440680" y="1920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Traverse Graphs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40680" y="2423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Follower &amp; similarity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26280" y="32004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5A7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next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046720" y="1554480"/>
            <a:ext cx="3566160" cy="2103120"/>
          </a:xfrm>
          <a:prstGeom prst="rect">
            <a:avLst/>
          </a:prstGeom>
          <a:solidFill>
            <a:srgbClr val="12233D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0" y="1554480"/>
            <a:ext cx="73152" cy="21031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0" y="1783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5600" dirty="0"/>
          </a:p>
        </p:txBody>
      </p:sp>
      <p:sp>
        <p:nvSpPr>
          <p:cNvPr id="19" name="Text 17"/>
          <p:cNvSpPr/>
          <p:nvPr/>
        </p:nvSpPr>
        <p:spPr>
          <a:xfrm>
            <a:off x="9235440" y="1920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 Out to Followers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235440" y="2423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ZADD GT, batched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321040" y="32004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5A7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next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886200"/>
            <a:ext cx="3566160" cy="2103120"/>
          </a:xfrm>
          <a:prstGeom prst="rect">
            <a:avLst/>
          </a:prstGeom>
          <a:solidFill>
            <a:srgbClr val="12233D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886200"/>
            <a:ext cx="73152" cy="21031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114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5600" dirty="0"/>
          </a:p>
        </p:txBody>
      </p:sp>
      <p:sp>
        <p:nvSpPr>
          <p:cNvPr id="25" name="Text 23"/>
          <p:cNvSpPr/>
          <p:nvPr/>
        </p:nvSpPr>
        <p:spPr>
          <a:xfrm>
            <a:off x="1645920" y="42519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Similarity Path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645920" y="4754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 → interactors → followers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31520" y="55321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5A7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next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251960" y="3886200"/>
            <a:ext cx="3566160" cy="2103120"/>
          </a:xfrm>
          <a:prstGeom prst="rect">
            <a:avLst/>
          </a:prstGeom>
          <a:solidFill>
            <a:srgbClr val="12233D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251960" y="3886200"/>
            <a:ext cx="73152" cy="21031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26280" y="4114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5600" dirty="0"/>
          </a:p>
        </p:txBody>
      </p:sp>
      <p:sp>
        <p:nvSpPr>
          <p:cNvPr id="31" name="Text 29"/>
          <p:cNvSpPr/>
          <p:nvPr/>
        </p:nvSpPr>
        <p:spPr>
          <a:xfrm>
            <a:off x="5440680" y="42519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Similar Posts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440680" y="4754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all reached users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26280" y="55321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5A7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next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046720" y="3886200"/>
            <a:ext cx="3566160" cy="2103120"/>
          </a:xfrm>
          <a:prstGeom prst="rect">
            <a:avLst/>
          </a:prstGeom>
          <a:solidFill>
            <a:srgbClr val="12233D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046720" y="3886200"/>
            <a:ext cx="73152" cy="21031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21040" y="4114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5600" dirty="0"/>
          </a:p>
        </p:txBody>
      </p:sp>
      <p:sp>
        <p:nvSpPr>
          <p:cNvPr id="37" name="Text 35"/>
          <p:cNvSpPr/>
          <p:nvPr/>
        </p:nvSpPr>
        <p:spPr>
          <a:xfrm>
            <a:off x="9235440" y="42519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Recipients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9235440" y="4754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score-update propagation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321040" y="55321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5A7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next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3657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17320" y="27432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Post Score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417320" y="8412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8F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Wilson lower bound + linear-time freshness boost — computed once, frozen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6355080"/>
            <a:ext cx="1801368" cy="3200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355080"/>
            <a:ext cx="1801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Score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331720" y="6355080"/>
            <a:ext cx="1801368" cy="320040"/>
          </a:xfrm>
          <a:prstGeom prst="rect">
            <a:avLst/>
          </a:prstGeom>
          <a:solidFill>
            <a:srgbClr val="12233D"/>
          </a:solidFill>
          <a:ln w="12700">
            <a:solidFill>
              <a:srgbClr val="1223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31720" y="6355080"/>
            <a:ext cx="1801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Traverse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06240" y="6355080"/>
            <a:ext cx="1801368" cy="320040"/>
          </a:xfrm>
          <a:prstGeom prst="rect">
            <a:avLst/>
          </a:prstGeom>
          <a:solidFill>
            <a:srgbClr val="12233D"/>
          </a:solidFill>
          <a:ln w="12700">
            <a:solidFill>
              <a:srgbClr val="1223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0" y="6355080"/>
            <a:ext cx="1801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Fan-out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80760" y="6355080"/>
            <a:ext cx="1801368" cy="320040"/>
          </a:xfrm>
          <a:prstGeom prst="rect">
            <a:avLst/>
          </a:prstGeom>
          <a:solidFill>
            <a:srgbClr val="12233D"/>
          </a:solidFill>
          <a:ln w="12700">
            <a:solidFill>
              <a:srgbClr val="1223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80760" y="6355080"/>
            <a:ext cx="1801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Sim path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955280" y="6355080"/>
            <a:ext cx="1801368" cy="320040"/>
          </a:xfrm>
          <a:prstGeom prst="rect">
            <a:avLst/>
          </a:prstGeom>
          <a:solidFill>
            <a:srgbClr val="12233D"/>
          </a:solidFill>
          <a:ln w="12700">
            <a:solidFill>
              <a:srgbClr val="1223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0" y="6355080"/>
            <a:ext cx="1801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Sim posts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829800" y="6355080"/>
            <a:ext cx="1801368" cy="320040"/>
          </a:xfrm>
          <a:prstGeom prst="rect">
            <a:avLst/>
          </a:prstGeom>
          <a:solidFill>
            <a:srgbClr val="12233D"/>
          </a:solidFill>
          <a:ln w="12700">
            <a:solidFill>
              <a:srgbClr val="1223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29800" y="6355080"/>
            <a:ext cx="1801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Recipients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1417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1783080"/>
            <a:ext cx="6035040" cy="1828800"/>
          </a:xfrm>
          <a:prstGeom prst="rect">
            <a:avLst/>
          </a:prstGeom>
          <a:solidFill>
            <a:srgbClr val="12233D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1920240"/>
            <a:ext cx="5669280" cy="1554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postScore =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8FA8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seedBonus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 log₂(max(q · QScale, 1))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 (createdAt − epoch) / (H·3600)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57200" y="3886200"/>
            <a:ext cx="1920240" cy="1417320"/>
          </a:xfrm>
          <a:prstGeom prst="rect">
            <a:avLst/>
          </a:prstGeom>
          <a:solidFill>
            <a:srgbClr val="12233D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886200"/>
            <a:ext cx="192024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40507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4360" y="43434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log₂(q · QScale)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94360" y="47548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Wilson 95% CI on upvote rate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514600" y="3886200"/>
            <a:ext cx="1920240" cy="1417320"/>
          </a:xfrm>
          <a:prstGeom prst="rect">
            <a:avLst/>
          </a:prstGeom>
          <a:solidFill>
            <a:srgbClr val="12233D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14600" y="3886200"/>
            <a:ext cx="1920240" cy="5486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51760" y="40507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Freshness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651760" y="43434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 − epoch) / (H·3600)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651760" y="47548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time, never overflows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0" y="3886200"/>
            <a:ext cx="1920240" cy="1417320"/>
          </a:xfrm>
          <a:prstGeom prst="rect">
            <a:avLst/>
          </a:prstGeom>
          <a:solidFill>
            <a:srgbClr val="12233D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0" y="3886200"/>
            <a:ext cx="1920240" cy="54864"/>
          </a:xfrm>
          <a:prstGeom prst="rect">
            <a:avLst/>
          </a:prstGeom>
          <a:solidFill>
            <a:srgbClr val="5A7398"/>
          </a:solidFill>
          <a:ln w="12700">
            <a:solidFill>
              <a:srgbClr val="5A739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40507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7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709160" y="43434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seedBonus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709160" y="47548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Constant, cancels in comparisons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858000" y="14173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858000" y="1783080"/>
            <a:ext cx="4846320" cy="4297680"/>
          </a:xfrm>
          <a:prstGeom prst="rect">
            <a:avLst/>
          </a:prstGeom>
          <a:solidFill>
            <a:srgbClr val="12233D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086600" y="1920240"/>
            <a:ext cx="4572000" cy="4023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likes = 80, dislikes = 20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age = 0  (just posted)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QScale = 1024,  H = 168 hr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Wilson lower bound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 ≈ 0.709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Quality term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log₂(0.709 × 1024) ≈ 9.47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Freshness term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0 / (168·3600) = 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postScore ≈ 9.47 + seed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3657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17320" y="27432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Traverse Graphs — depth 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417320" y="8412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8F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FOLLOWS edges outward; stop when score &lt; minFeedScore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6355080"/>
            <a:ext cx="1801368" cy="3200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355080"/>
            <a:ext cx="1801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Score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331720" y="6355080"/>
            <a:ext cx="1801368" cy="3200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31720" y="6355080"/>
            <a:ext cx="1801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Traverse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06240" y="6355080"/>
            <a:ext cx="1801368" cy="320040"/>
          </a:xfrm>
          <a:prstGeom prst="rect">
            <a:avLst/>
          </a:prstGeom>
          <a:solidFill>
            <a:srgbClr val="12233D"/>
          </a:solidFill>
          <a:ln w="12700">
            <a:solidFill>
              <a:srgbClr val="1223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0" y="6355080"/>
            <a:ext cx="1801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Fan-out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80760" y="6355080"/>
            <a:ext cx="1801368" cy="320040"/>
          </a:xfrm>
          <a:prstGeom prst="rect">
            <a:avLst/>
          </a:prstGeom>
          <a:solidFill>
            <a:srgbClr val="12233D"/>
          </a:solidFill>
          <a:ln w="12700">
            <a:solidFill>
              <a:srgbClr val="1223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80760" y="6355080"/>
            <a:ext cx="1801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Sim path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955280" y="6355080"/>
            <a:ext cx="1801368" cy="320040"/>
          </a:xfrm>
          <a:prstGeom prst="rect">
            <a:avLst/>
          </a:prstGeom>
          <a:solidFill>
            <a:srgbClr val="12233D"/>
          </a:solidFill>
          <a:ln w="12700">
            <a:solidFill>
              <a:srgbClr val="1223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0" y="6355080"/>
            <a:ext cx="1801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Sim posts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829800" y="6355080"/>
            <a:ext cx="1801368" cy="320040"/>
          </a:xfrm>
          <a:prstGeom prst="rect">
            <a:avLst/>
          </a:prstGeom>
          <a:solidFill>
            <a:srgbClr val="12233D"/>
          </a:solidFill>
          <a:ln w="12700">
            <a:solidFill>
              <a:srgbClr val="1223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29800" y="6355080"/>
            <a:ext cx="1801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Recipients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1325880"/>
            <a:ext cx="7680960" cy="4754880"/>
          </a:xfrm>
          <a:prstGeom prst="rect">
            <a:avLst/>
          </a:prstGeom>
          <a:solidFill>
            <a:srgbClr val="12233D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1417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FOLLOWER TREE  (Neo4j  ·  FOLLOWS edges)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485900" y="3497580"/>
            <a:ext cx="1828800" cy="-1554480"/>
          </a:xfrm>
          <a:prstGeom prst="line">
            <a:avLst/>
          </a:prstGeom>
          <a:noFill/>
          <a:ln w="12700">
            <a:solidFill>
              <a:srgbClr val="1F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485900" y="3497580"/>
            <a:ext cx="1828800" cy="-822960"/>
          </a:xfrm>
          <a:prstGeom prst="line">
            <a:avLst/>
          </a:prstGeom>
          <a:noFill/>
          <a:ln w="12700">
            <a:solidFill>
              <a:srgbClr val="1F3A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5900" y="3497580"/>
            <a:ext cx="1828800" cy="0"/>
          </a:xfrm>
          <a:prstGeom prst="line">
            <a:avLst/>
          </a:prstGeom>
          <a:noFill/>
          <a:ln w="12700">
            <a:solidFill>
              <a:srgbClr val="1F3A5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485900" y="3497580"/>
            <a:ext cx="1828800" cy="822960"/>
          </a:xfrm>
          <a:prstGeom prst="line">
            <a:avLst/>
          </a:prstGeom>
          <a:noFill/>
          <a:ln w="12700">
            <a:solidFill>
              <a:srgbClr val="1F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485900" y="3497580"/>
            <a:ext cx="1828800" cy="1554480"/>
          </a:xfrm>
          <a:prstGeom prst="line">
            <a:avLst/>
          </a:prstGeom>
          <a:noFill/>
          <a:ln w="12700">
            <a:solidFill>
              <a:srgbClr val="1F3A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80160" y="3291840"/>
            <a:ext cx="411480" cy="4114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80160" y="3291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108960" y="1737360"/>
            <a:ext cx="411480" cy="4114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08960" y="1737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108960" y="2468880"/>
            <a:ext cx="411480" cy="4114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108960" y="2468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108960" y="3291840"/>
            <a:ext cx="411480" cy="4114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08960" y="3291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U3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108960" y="4114800"/>
            <a:ext cx="411480" cy="4114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108960" y="4114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U4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108960" y="4846320"/>
            <a:ext cx="411480" cy="4114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108960" y="4846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788920" y="57607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1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60120" y="57607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412480" y="1325880"/>
            <a:ext cx="3291840" cy="4754880"/>
          </a:xfrm>
          <a:prstGeom prst="rect">
            <a:avLst/>
          </a:prstGeom>
          <a:solidFill>
            <a:srgbClr val="12233D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595360" y="1417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CUTOFF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595360" y="1783080"/>
            <a:ext cx="3108960" cy="4206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 when: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postScore − log₂(d)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 minFeedScore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postScore = 9.5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minFeedScore = 5.0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d=1 → 9.50 ✓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d=2 → 8.50 ✓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d=3 → 7.92 ✓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d=4 → 7.50 ✓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d=24 → 4.91 ✗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3657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17320" y="27432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Traverse Graphs — depth 2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417320" y="8412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8F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continues outward through followers-of-followers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6355080"/>
            <a:ext cx="1801368" cy="3200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355080"/>
            <a:ext cx="1801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Score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331720" y="6355080"/>
            <a:ext cx="1801368" cy="3200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31720" y="6355080"/>
            <a:ext cx="1801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Traverse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06240" y="6355080"/>
            <a:ext cx="1801368" cy="320040"/>
          </a:xfrm>
          <a:prstGeom prst="rect">
            <a:avLst/>
          </a:prstGeom>
          <a:solidFill>
            <a:srgbClr val="12233D"/>
          </a:solidFill>
          <a:ln w="12700">
            <a:solidFill>
              <a:srgbClr val="1223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0" y="6355080"/>
            <a:ext cx="1801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Fan-out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80760" y="6355080"/>
            <a:ext cx="1801368" cy="320040"/>
          </a:xfrm>
          <a:prstGeom prst="rect">
            <a:avLst/>
          </a:prstGeom>
          <a:solidFill>
            <a:srgbClr val="12233D"/>
          </a:solidFill>
          <a:ln w="12700">
            <a:solidFill>
              <a:srgbClr val="1223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80760" y="6355080"/>
            <a:ext cx="1801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Sim path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955280" y="6355080"/>
            <a:ext cx="1801368" cy="320040"/>
          </a:xfrm>
          <a:prstGeom prst="rect">
            <a:avLst/>
          </a:prstGeom>
          <a:solidFill>
            <a:srgbClr val="12233D"/>
          </a:solidFill>
          <a:ln w="12700">
            <a:solidFill>
              <a:srgbClr val="1223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0" y="6355080"/>
            <a:ext cx="1801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Sim posts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829800" y="6355080"/>
            <a:ext cx="1801368" cy="320040"/>
          </a:xfrm>
          <a:prstGeom prst="rect">
            <a:avLst/>
          </a:prstGeom>
          <a:solidFill>
            <a:srgbClr val="12233D"/>
          </a:solidFill>
          <a:ln w="12700">
            <a:solidFill>
              <a:srgbClr val="1223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29800" y="6355080"/>
            <a:ext cx="1801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Recipients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1325880"/>
            <a:ext cx="7680960" cy="4754880"/>
          </a:xfrm>
          <a:prstGeom prst="rect">
            <a:avLst/>
          </a:prstGeom>
          <a:solidFill>
            <a:srgbClr val="12233D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1417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FOLLOWER TREE  ·  expanding...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485900" y="3497580"/>
            <a:ext cx="1828800" cy="-1554480"/>
          </a:xfrm>
          <a:prstGeom prst="line">
            <a:avLst/>
          </a:prstGeom>
          <a:noFill/>
          <a:ln w="12700">
            <a:solidFill>
              <a:srgbClr val="1F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485900" y="3497580"/>
            <a:ext cx="1828800" cy="-822960"/>
          </a:xfrm>
          <a:prstGeom prst="line">
            <a:avLst/>
          </a:prstGeom>
          <a:noFill/>
          <a:ln w="12700">
            <a:solidFill>
              <a:srgbClr val="1F3A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5900" y="3497580"/>
            <a:ext cx="1828800" cy="0"/>
          </a:xfrm>
          <a:prstGeom prst="line">
            <a:avLst/>
          </a:prstGeom>
          <a:noFill/>
          <a:ln w="12700">
            <a:solidFill>
              <a:srgbClr val="1F3A5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485900" y="3497580"/>
            <a:ext cx="1828800" cy="822960"/>
          </a:xfrm>
          <a:prstGeom prst="line">
            <a:avLst/>
          </a:prstGeom>
          <a:noFill/>
          <a:ln w="12700">
            <a:solidFill>
              <a:srgbClr val="1F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485900" y="3497580"/>
            <a:ext cx="1828800" cy="1554480"/>
          </a:xfrm>
          <a:prstGeom prst="line">
            <a:avLst/>
          </a:prstGeom>
          <a:noFill/>
          <a:ln w="12700">
            <a:solidFill>
              <a:srgbClr val="1F3A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14700" y="1943100"/>
            <a:ext cx="1828800" cy="182880"/>
          </a:xfrm>
          <a:prstGeom prst="line">
            <a:avLst/>
          </a:prstGeom>
          <a:noFill/>
          <a:ln w="12700">
            <a:solidFill>
              <a:srgbClr val="1F3A5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14700" y="2674620"/>
            <a:ext cx="1828800" cy="274320"/>
          </a:xfrm>
          <a:prstGeom prst="line">
            <a:avLst/>
          </a:prstGeom>
          <a:noFill/>
          <a:ln w="12700">
            <a:solidFill>
              <a:srgbClr val="1F3A5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14700" y="3497580"/>
            <a:ext cx="1828800" cy="-548640"/>
          </a:xfrm>
          <a:prstGeom prst="line">
            <a:avLst/>
          </a:prstGeom>
          <a:noFill/>
          <a:ln w="12700">
            <a:solidFill>
              <a:srgbClr val="1F3A5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14700" y="3497580"/>
            <a:ext cx="1828800" cy="365760"/>
          </a:xfrm>
          <a:prstGeom prst="line">
            <a:avLst/>
          </a:prstGeom>
          <a:noFill/>
          <a:ln w="12700">
            <a:solidFill>
              <a:srgbClr val="1F3A5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14700" y="4320540"/>
            <a:ext cx="1828800" cy="-457200"/>
          </a:xfrm>
          <a:prstGeom prst="line">
            <a:avLst/>
          </a:prstGeom>
          <a:noFill/>
          <a:ln w="12700">
            <a:solidFill>
              <a:srgbClr val="1F3A5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14700" y="5052060"/>
            <a:ext cx="1828800" cy="-274320"/>
          </a:xfrm>
          <a:prstGeom prst="line">
            <a:avLst/>
          </a:prstGeom>
          <a:noFill/>
          <a:ln w="12700">
            <a:solidFill>
              <a:srgbClr val="1F3A5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280160" y="3291840"/>
            <a:ext cx="411480" cy="4114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280160" y="3291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108960" y="1737360"/>
            <a:ext cx="411480" cy="4114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108960" y="1737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108960" y="2468880"/>
            <a:ext cx="411480" cy="4114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108960" y="2468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108960" y="3291840"/>
            <a:ext cx="411480" cy="4114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108960" y="3291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U3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108960" y="4114800"/>
            <a:ext cx="411480" cy="4114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108960" y="4114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U4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108960" y="4846320"/>
            <a:ext cx="411480" cy="4114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108960" y="4846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937760" y="1920240"/>
            <a:ext cx="411480" cy="41148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37760" y="1920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937760" y="2743200"/>
            <a:ext cx="411480" cy="41148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37760" y="2743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937760" y="3657600"/>
            <a:ext cx="411480" cy="41148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37760" y="3657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937760" y="4572000"/>
            <a:ext cx="411480" cy="41148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37760" y="4572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960120" y="57607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2788920" y="57607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1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617720" y="57607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2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8412480" y="1325880"/>
            <a:ext cx="3291840" cy="4754880"/>
          </a:xfrm>
          <a:prstGeom prst="rect">
            <a:avLst/>
          </a:prstGeom>
          <a:solidFill>
            <a:srgbClr val="12233D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595360" y="1417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ACCUMULATING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8595360" y="1783080"/>
            <a:ext cx="3108960" cy="4206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[]{ userID, depth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U1, 1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U2, 1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U3, 1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U4, 1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U5, 1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V1, 2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V2, 2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V3, 2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V4, 2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5A73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expanding...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3657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17320" y="27432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Traverse Graphs — both trees in parallel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417320" y="8412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8F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Follower tree completes; similarity tree runs concurrently from the post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6355080"/>
            <a:ext cx="1801368" cy="3200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355080"/>
            <a:ext cx="1801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Score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331720" y="6355080"/>
            <a:ext cx="1801368" cy="3200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31720" y="6355080"/>
            <a:ext cx="1801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Traverse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06240" y="6355080"/>
            <a:ext cx="1801368" cy="320040"/>
          </a:xfrm>
          <a:prstGeom prst="rect">
            <a:avLst/>
          </a:prstGeom>
          <a:solidFill>
            <a:srgbClr val="12233D"/>
          </a:solidFill>
          <a:ln w="12700">
            <a:solidFill>
              <a:srgbClr val="1223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0" y="6355080"/>
            <a:ext cx="1801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Fan-out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80760" y="6355080"/>
            <a:ext cx="1801368" cy="320040"/>
          </a:xfrm>
          <a:prstGeom prst="rect">
            <a:avLst/>
          </a:prstGeom>
          <a:solidFill>
            <a:srgbClr val="12233D"/>
          </a:solidFill>
          <a:ln w="12700">
            <a:solidFill>
              <a:srgbClr val="1223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80760" y="6355080"/>
            <a:ext cx="1801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Sim path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955280" y="6355080"/>
            <a:ext cx="1801368" cy="320040"/>
          </a:xfrm>
          <a:prstGeom prst="rect">
            <a:avLst/>
          </a:prstGeom>
          <a:solidFill>
            <a:srgbClr val="12233D"/>
          </a:solidFill>
          <a:ln w="12700">
            <a:solidFill>
              <a:srgbClr val="1223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0" y="6355080"/>
            <a:ext cx="1801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Sim posts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829800" y="6355080"/>
            <a:ext cx="1801368" cy="320040"/>
          </a:xfrm>
          <a:prstGeom prst="rect">
            <a:avLst/>
          </a:prstGeom>
          <a:solidFill>
            <a:srgbClr val="12233D"/>
          </a:solidFill>
          <a:ln w="12700">
            <a:solidFill>
              <a:srgbClr val="1223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29800" y="6355080"/>
            <a:ext cx="1801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Recipients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1325880"/>
            <a:ext cx="7680960" cy="2377440"/>
          </a:xfrm>
          <a:prstGeom prst="rect">
            <a:avLst/>
          </a:prstGeom>
          <a:solidFill>
            <a:srgbClr val="12233D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1417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FOLLOWER TREE  ·  reached depth 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51560" y="2669059"/>
            <a:ext cx="1463040" cy="-840259"/>
          </a:xfrm>
          <a:prstGeom prst="line">
            <a:avLst/>
          </a:prstGeom>
          <a:noFill/>
          <a:ln w="11430">
            <a:solidFill>
              <a:srgbClr val="1F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51560" y="2669059"/>
            <a:ext cx="1463040" cy="-444843"/>
          </a:xfrm>
          <a:prstGeom prst="line">
            <a:avLst/>
          </a:prstGeom>
          <a:noFill/>
          <a:ln w="11430">
            <a:solidFill>
              <a:srgbClr val="1F3A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51560" y="2669059"/>
            <a:ext cx="1463040" cy="0"/>
          </a:xfrm>
          <a:prstGeom prst="line">
            <a:avLst/>
          </a:prstGeom>
          <a:noFill/>
          <a:ln w="11430">
            <a:solidFill>
              <a:srgbClr val="1F3A5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51560" y="2669059"/>
            <a:ext cx="1463040" cy="444843"/>
          </a:xfrm>
          <a:prstGeom prst="line">
            <a:avLst/>
          </a:prstGeom>
          <a:noFill/>
          <a:ln w="11430">
            <a:solidFill>
              <a:srgbClr val="1F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51560" y="2669059"/>
            <a:ext cx="1463040" cy="840259"/>
          </a:xfrm>
          <a:prstGeom prst="line">
            <a:avLst/>
          </a:prstGeom>
          <a:noFill/>
          <a:ln w="11430">
            <a:solidFill>
              <a:srgbClr val="1F3A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14600" y="1828800"/>
            <a:ext cx="1645920" cy="98854"/>
          </a:xfrm>
          <a:prstGeom prst="line">
            <a:avLst/>
          </a:prstGeom>
          <a:noFill/>
          <a:ln w="11430">
            <a:solidFill>
              <a:srgbClr val="1F3A5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14600" y="2224216"/>
            <a:ext cx="1645920" cy="148281"/>
          </a:xfrm>
          <a:prstGeom prst="line">
            <a:avLst/>
          </a:prstGeom>
          <a:noFill/>
          <a:ln w="11430">
            <a:solidFill>
              <a:srgbClr val="1F3A5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14600" y="2669059"/>
            <a:ext cx="1645920" cy="-296562"/>
          </a:xfrm>
          <a:prstGeom prst="line">
            <a:avLst/>
          </a:prstGeom>
          <a:noFill/>
          <a:ln w="11430">
            <a:solidFill>
              <a:srgbClr val="1F3A5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14600" y="2669059"/>
            <a:ext cx="1645920" cy="197708"/>
          </a:xfrm>
          <a:prstGeom prst="line">
            <a:avLst/>
          </a:prstGeom>
          <a:noFill/>
          <a:ln w="11430">
            <a:solidFill>
              <a:srgbClr val="1F3A5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14600" y="3113903"/>
            <a:ext cx="1645920" cy="-247135"/>
          </a:xfrm>
          <a:prstGeom prst="line">
            <a:avLst/>
          </a:prstGeom>
          <a:noFill/>
          <a:ln w="11430">
            <a:solidFill>
              <a:srgbClr val="1F3A5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14600" y="3509319"/>
            <a:ext cx="1645920" cy="-148281"/>
          </a:xfrm>
          <a:prstGeom prst="line">
            <a:avLst/>
          </a:prstGeom>
          <a:noFill/>
          <a:ln w="11430">
            <a:solidFill>
              <a:srgbClr val="1F3A5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60520" y="1927654"/>
            <a:ext cx="1645920" cy="197708"/>
          </a:xfrm>
          <a:prstGeom prst="line">
            <a:avLst/>
          </a:prstGeom>
          <a:noFill/>
          <a:ln w="11430">
            <a:solidFill>
              <a:srgbClr val="1F3A5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160520" y="2372497"/>
            <a:ext cx="1645920" cy="296562"/>
          </a:xfrm>
          <a:prstGeom prst="line">
            <a:avLst/>
          </a:prstGeom>
          <a:noFill/>
          <a:ln w="11430">
            <a:solidFill>
              <a:srgbClr val="1F3A5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60520" y="2866768"/>
            <a:ext cx="1645920" cy="-197708"/>
          </a:xfrm>
          <a:prstGeom prst="line">
            <a:avLst/>
          </a:prstGeom>
          <a:noFill/>
          <a:ln w="11430">
            <a:solidFill>
              <a:srgbClr val="1F3A5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160520" y="3361038"/>
            <a:ext cx="1645920" cy="-197708"/>
          </a:xfrm>
          <a:prstGeom prst="line">
            <a:avLst/>
          </a:prstGeom>
          <a:noFill/>
          <a:ln w="11430">
            <a:solidFill>
              <a:srgbClr val="1F3A5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14400" y="2531899"/>
            <a:ext cx="274320" cy="27432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4400" y="253189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914400" y="2531899"/>
            <a:ext cx="274320" cy="27432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4400" y="253189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377440" y="1691640"/>
            <a:ext cx="274320" cy="2743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377440" y="1691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2377440" y="2087056"/>
            <a:ext cx="274320" cy="2743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377440" y="2087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2377440" y="2531899"/>
            <a:ext cx="274320" cy="2743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377440" y="253189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U3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2377440" y="2976743"/>
            <a:ext cx="274320" cy="2743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377440" y="297674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U4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2377440" y="3372159"/>
            <a:ext cx="274320" cy="2743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377440" y="337215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4023360" y="1790494"/>
            <a:ext cx="274320" cy="27432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023360" y="179049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4023360" y="2235337"/>
            <a:ext cx="274320" cy="27432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023360" y="223533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4023360" y="2729608"/>
            <a:ext cx="274320" cy="27432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023360" y="2729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4023360" y="3223878"/>
            <a:ext cx="274320" cy="27432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023360" y="322387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5669280" y="1988202"/>
            <a:ext cx="274320" cy="27432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669280" y="198820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5669280" y="2531899"/>
            <a:ext cx="274320" cy="27432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669280" y="253189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5669280" y="3026170"/>
            <a:ext cx="274320" cy="27432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669280" y="302617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457200" y="3840480"/>
            <a:ext cx="7680960" cy="2194560"/>
          </a:xfrm>
          <a:prstGeom prst="rect">
            <a:avLst/>
          </a:prstGeom>
          <a:solidFill>
            <a:srgbClr val="12233D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40080" y="3931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TREE  ·  SIMILAR_TO  edges from the post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1444752" y="4782312"/>
            <a:ext cx="2011680" cy="-457200"/>
          </a:xfrm>
          <a:prstGeom prst="line">
            <a:avLst/>
          </a:prstGeom>
          <a:noFill/>
          <a:ln w="11430">
            <a:solidFill>
              <a:srgbClr val="1F3A5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444752" y="4782312"/>
            <a:ext cx="2011680" cy="137160"/>
          </a:xfrm>
          <a:prstGeom prst="line">
            <a:avLst/>
          </a:prstGeom>
          <a:noFill/>
          <a:ln w="11430">
            <a:solidFill>
              <a:srgbClr val="1F3A5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444752" y="4782312"/>
            <a:ext cx="2011680" cy="731520"/>
          </a:xfrm>
          <a:prstGeom prst="line">
            <a:avLst/>
          </a:prstGeom>
          <a:noFill/>
          <a:ln w="11430">
            <a:solidFill>
              <a:srgbClr val="1F3A5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456432" y="4325112"/>
            <a:ext cx="1828800" cy="274320"/>
          </a:xfrm>
          <a:prstGeom prst="line">
            <a:avLst/>
          </a:prstGeom>
          <a:noFill/>
          <a:ln w="11430">
            <a:solidFill>
              <a:srgbClr val="1F3A5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456432" y="4919472"/>
            <a:ext cx="1828800" cy="-320040"/>
          </a:xfrm>
          <a:prstGeom prst="line">
            <a:avLst/>
          </a:prstGeom>
          <a:noFill/>
          <a:ln w="11430">
            <a:solidFill>
              <a:srgbClr val="1F3A5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456432" y="5513832"/>
            <a:ext cx="1828800" cy="-274320"/>
          </a:xfrm>
          <a:prstGeom prst="line">
            <a:avLst/>
          </a:prstGeom>
          <a:noFill/>
          <a:ln w="11430">
            <a:solidFill>
              <a:srgbClr val="1F3A5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280160" y="4617720"/>
            <a:ext cx="329184" cy="329184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280160" y="4617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3291840" y="4160520"/>
            <a:ext cx="329184" cy="32918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291840" y="4160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3291840" y="4754880"/>
            <a:ext cx="329184" cy="32918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291840" y="4754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3291840" y="5349240"/>
            <a:ext cx="329184" cy="32918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291840" y="5349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5120640" y="4434840"/>
            <a:ext cx="329184" cy="32918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120640" y="44348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5120640" y="5074920"/>
            <a:ext cx="329184" cy="32918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120640" y="5074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8412480" y="1325880"/>
            <a:ext cx="3291840" cy="4754880"/>
          </a:xfrm>
          <a:prstGeom prst="rect">
            <a:avLst/>
          </a:prstGeom>
          <a:solidFill>
            <a:srgbClr val="12233D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8595360" y="1417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85" name="Text 83"/>
          <p:cNvSpPr/>
          <p:nvPr/>
        </p:nvSpPr>
        <p:spPr>
          <a:xfrm>
            <a:off x="8595360" y="1783080"/>
            <a:ext cx="3108960" cy="4206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Followers (12)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d=1: U1..U5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d=2: V1..V4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d=3: W1..W3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Similar posts (5)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d=1: P1, P2, P3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d=2: P4, P5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8FA8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Both trees pruned by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8FA8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same depth cutoff.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3657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17320" y="27432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 out to followers — depth 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417320" y="8412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8F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fanOutScore = postScore − log₂(d) ;  ZADD GT keeps the max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6355080"/>
            <a:ext cx="1801368" cy="3200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355080"/>
            <a:ext cx="1801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Score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331720" y="6355080"/>
            <a:ext cx="1801368" cy="3200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31720" y="6355080"/>
            <a:ext cx="1801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Traverse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06240" y="6355080"/>
            <a:ext cx="1801368" cy="3200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0" y="6355080"/>
            <a:ext cx="1801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Fan-out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80760" y="6355080"/>
            <a:ext cx="1801368" cy="320040"/>
          </a:xfrm>
          <a:prstGeom prst="rect">
            <a:avLst/>
          </a:prstGeom>
          <a:solidFill>
            <a:srgbClr val="12233D"/>
          </a:solidFill>
          <a:ln w="12700">
            <a:solidFill>
              <a:srgbClr val="1223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80760" y="6355080"/>
            <a:ext cx="1801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Sim path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955280" y="6355080"/>
            <a:ext cx="1801368" cy="320040"/>
          </a:xfrm>
          <a:prstGeom prst="rect">
            <a:avLst/>
          </a:prstGeom>
          <a:solidFill>
            <a:srgbClr val="12233D"/>
          </a:solidFill>
          <a:ln w="12700">
            <a:solidFill>
              <a:srgbClr val="1223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0" y="6355080"/>
            <a:ext cx="1801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Sim posts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829800" y="6355080"/>
            <a:ext cx="1801368" cy="320040"/>
          </a:xfrm>
          <a:prstGeom prst="rect">
            <a:avLst/>
          </a:prstGeom>
          <a:solidFill>
            <a:srgbClr val="12233D"/>
          </a:solidFill>
          <a:ln w="12700">
            <a:solidFill>
              <a:srgbClr val="1223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29800" y="6355080"/>
            <a:ext cx="1801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Recipients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1325880"/>
            <a:ext cx="6583680" cy="4754880"/>
          </a:xfrm>
          <a:prstGeom prst="rect">
            <a:avLst/>
          </a:prstGeom>
          <a:solidFill>
            <a:srgbClr val="12233D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141732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TO  timeline:user:Ux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485900" y="3497580"/>
            <a:ext cx="1828800" cy="-1554480"/>
          </a:xfrm>
          <a:prstGeom prst="line">
            <a:avLst/>
          </a:prstGeom>
          <a:noFill/>
          <a:ln w="12700">
            <a:solidFill>
              <a:srgbClr val="1F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485900" y="3497580"/>
            <a:ext cx="1828800" cy="-822960"/>
          </a:xfrm>
          <a:prstGeom prst="line">
            <a:avLst/>
          </a:prstGeom>
          <a:noFill/>
          <a:ln w="12700">
            <a:solidFill>
              <a:srgbClr val="1F3A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5900" y="3497580"/>
            <a:ext cx="1828800" cy="0"/>
          </a:xfrm>
          <a:prstGeom prst="line">
            <a:avLst/>
          </a:prstGeom>
          <a:noFill/>
          <a:ln w="12700">
            <a:solidFill>
              <a:srgbClr val="1F3A5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485900" y="3497580"/>
            <a:ext cx="1828800" cy="822960"/>
          </a:xfrm>
          <a:prstGeom prst="line">
            <a:avLst/>
          </a:prstGeom>
          <a:noFill/>
          <a:ln w="12700">
            <a:solidFill>
              <a:srgbClr val="1F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485900" y="3497580"/>
            <a:ext cx="1828800" cy="1554480"/>
          </a:xfrm>
          <a:prstGeom prst="line">
            <a:avLst/>
          </a:prstGeom>
          <a:noFill/>
          <a:ln w="12700">
            <a:solidFill>
              <a:srgbClr val="1F3A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14700" y="1943100"/>
            <a:ext cx="1828800" cy="182880"/>
          </a:xfrm>
          <a:prstGeom prst="line">
            <a:avLst/>
          </a:prstGeom>
          <a:noFill/>
          <a:ln w="12700">
            <a:solidFill>
              <a:srgbClr val="1F3A5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14700" y="2674620"/>
            <a:ext cx="1828800" cy="274320"/>
          </a:xfrm>
          <a:prstGeom prst="line">
            <a:avLst/>
          </a:prstGeom>
          <a:noFill/>
          <a:ln w="12700">
            <a:solidFill>
              <a:srgbClr val="1F3A5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14700" y="3497580"/>
            <a:ext cx="1828800" cy="-548640"/>
          </a:xfrm>
          <a:prstGeom prst="line">
            <a:avLst/>
          </a:prstGeom>
          <a:noFill/>
          <a:ln w="12700">
            <a:solidFill>
              <a:srgbClr val="1F3A5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14700" y="3497580"/>
            <a:ext cx="1828800" cy="365760"/>
          </a:xfrm>
          <a:prstGeom prst="line">
            <a:avLst/>
          </a:prstGeom>
          <a:noFill/>
          <a:ln w="12700">
            <a:solidFill>
              <a:srgbClr val="1F3A5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14700" y="4320540"/>
            <a:ext cx="1828800" cy="-457200"/>
          </a:xfrm>
          <a:prstGeom prst="line">
            <a:avLst/>
          </a:prstGeom>
          <a:noFill/>
          <a:ln w="12700">
            <a:solidFill>
              <a:srgbClr val="1F3A5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14700" y="5052060"/>
            <a:ext cx="1828800" cy="-274320"/>
          </a:xfrm>
          <a:prstGeom prst="line">
            <a:avLst/>
          </a:prstGeom>
          <a:noFill/>
          <a:ln w="12700">
            <a:solidFill>
              <a:srgbClr val="1F3A5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143500" y="2125980"/>
            <a:ext cx="1645920" cy="365760"/>
          </a:xfrm>
          <a:prstGeom prst="line">
            <a:avLst/>
          </a:prstGeom>
          <a:noFill/>
          <a:ln w="12700">
            <a:solidFill>
              <a:srgbClr val="1F3A5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143500" y="2948940"/>
            <a:ext cx="1645920" cy="548640"/>
          </a:xfrm>
          <a:prstGeom prst="line">
            <a:avLst/>
          </a:prstGeom>
          <a:noFill/>
          <a:ln w="12700">
            <a:solidFill>
              <a:srgbClr val="1F3A5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143500" y="3863340"/>
            <a:ext cx="1645920" cy="-365760"/>
          </a:xfrm>
          <a:prstGeom prst="line">
            <a:avLst/>
          </a:prstGeom>
          <a:noFill/>
          <a:ln w="12700">
            <a:solidFill>
              <a:srgbClr val="1F3A5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143500" y="4777740"/>
            <a:ext cx="1645920" cy="-365760"/>
          </a:xfrm>
          <a:prstGeom prst="line">
            <a:avLst/>
          </a:prstGeom>
          <a:noFill/>
          <a:ln w="12700">
            <a:solidFill>
              <a:srgbClr val="1F3A5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485900" y="3497580"/>
            <a:ext cx="1828800" cy="-1554480"/>
          </a:xfrm>
          <a:prstGeom prst="line">
            <a:avLst/>
          </a:prstGeom>
          <a:noFill/>
          <a:ln w="19050">
            <a:solidFill>
              <a:srgbClr val="22D3EE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1485900" y="3497580"/>
            <a:ext cx="1828800" cy="-822960"/>
          </a:xfrm>
          <a:prstGeom prst="line">
            <a:avLst/>
          </a:prstGeom>
          <a:noFill/>
          <a:ln w="19050">
            <a:solidFill>
              <a:srgbClr val="22D3EE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1485900" y="3497580"/>
            <a:ext cx="182880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1485900" y="3497580"/>
            <a:ext cx="1828800" cy="822960"/>
          </a:xfrm>
          <a:prstGeom prst="line">
            <a:avLst/>
          </a:prstGeom>
          <a:noFill/>
          <a:ln w="19050">
            <a:solidFill>
              <a:srgbClr val="22D3EE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1485900" y="3497580"/>
            <a:ext cx="1828800" cy="1554480"/>
          </a:xfrm>
          <a:prstGeom prst="line">
            <a:avLst/>
          </a:prstGeom>
          <a:noFill/>
          <a:ln w="19050">
            <a:solidFill>
              <a:srgbClr val="22D3EE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1280160" y="3291840"/>
            <a:ext cx="411480" cy="4114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280160" y="3291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108960" y="1737360"/>
            <a:ext cx="411480" cy="4114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108960" y="1737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108960" y="2468880"/>
            <a:ext cx="411480" cy="4114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108960" y="2468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108960" y="3291840"/>
            <a:ext cx="411480" cy="4114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108960" y="3291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U3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108960" y="4114800"/>
            <a:ext cx="411480" cy="4114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108960" y="4114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U4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108960" y="4846320"/>
            <a:ext cx="411480" cy="4114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108960" y="4846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937760" y="1920240"/>
            <a:ext cx="411480" cy="41148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937760" y="1920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937760" y="2743200"/>
            <a:ext cx="411480" cy="41148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937760" y="2743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937760" y="3657600"/>
            <a:ext cx="411480" cy="41148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937760" y="3657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937760" y="4572000"/>
            <a:ext cx="411480" cy="41148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937760" y="4572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583680" y="2286000"/>
            <a:ext cx="411480" cy="41148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583680" y="2286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6583680" y="3291840"/>
            <a:ext cx="411480" cy="41148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583680" y="3291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583680" y="4206240"/>
            <a:ext cx="411480" cy="41148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583680" y="4206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7315200" y="1325880"/>
            <a:ext cx="4572000" cy="914400"/>
          </a:xfrm>
          <a:prstGeom prst="rect">
            <a:avLst/>
          </a:prstGeom>
          <a:solidFill>
            <a:srgbClr val="12233D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452360" y="139903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timeline:user:U1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7452360" y="1709928"/>
            <a:ext cx="42976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9.50  P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7315200" y="2286000"/>
            <a:ext cx="4572000" cy="914400"/>
          </a:xfrm>
          <a:prstGeom prst="rect">
            <a:avLst/>
          </a:prstGeom>
          <a:solidFill>
            <a:srgbClr val="12233D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452360" y="235915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timeline:user:U2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7452360" y="2670048"/>
            <a:ext cx="42976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9.50  P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7315200" y="3246120"/>
            <a:ext cx="4572000" cy="914400"/>
          </a:xfrm>
          <a:prstGeom prst="rect">
            <a:avLst/>
          </a:prstGeom>
          <a:solidFill>
            <a:srgbClr val="12233D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452360" y="331927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timeline:user:U3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7452360" y="3630168"/>
            <a:ext cx="42976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9.50  P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7315200" y="4206240"/>
            <a:ext cx="4572000" cy="914400"/>
          </a:xfrm>
          <a:prstGeom prst="rect">
            <a:avLst/>
          </a:prstGeom>
          <a:solidFill>
            <a:srgbClr val="12233D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452360" y="427939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timeline:user:U4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7452360" y="4590288"/>
            <a:ext cx="42976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9.50  P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7315200" y="5166360"/>
            <a:ext cx="4572000" cy="914400"/>
          </a:xfrm>
          <a:prstGeom prst="rect">
            <a:avLst/>
          </a:prstGeom>
          <a:solidFill>
            <a:srgbClr val="12233D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452360" y="523951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timeline:user:U5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7452360" y="5550408"/>
            <a:ext cx="42976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9.50  P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457200" y="5852160"/>
            <a:ext cx="6583680" cy="411480"/>
          </a:xfrm>
          <a:prstGeom prst="rect">
            <a:avLst/>
          </a:prstGeom>
          <a:solidFill>
            <a:srgbClr val="1B3461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94360" y="58521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Batched: 500 users per Redis pipeline flush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3657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17320" y="27432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 out to followers — depths 2 &amp; 3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417320" y="8412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8F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attenuation: each depth doubling drops score by 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6355080"/>
            <a:ext cx="1801368" cy="3200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355080"/>
            <a:ext cx="1801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Score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331720" y="6355080"/>
            <a:ext cx="1801368" cy="3200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31720" y="6355080"/>
            <a:ext cx="1801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Traverse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06240" y="6355080"/>
            <a:ext cx="1801368" cy="3200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0" y="6355080"/>
            <a:ext cx="1801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Fan-out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80760" y="6355080"/>
            <a:ext cx="1801368" cy="320040"/>
          </a:xfrm>
          <a:prstGeom prst="rect">
            <a:avLst/>
          </a:prstGeom>
          <a:solidFill>
            <a:srgbClr val="12233D"/>
          </a:solidFill>
          <a:ln w="12700">
            <a:solidFill>
              <a:srgbClr val="1223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80760" y="6355080"/>
            <a:ext cx="1801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Sim path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955280" y="6355080"/>
            <a:ext cx="1801368" cy="320040"/>
          </a:xfrm>
          <a:prstGeom prst="rect">
            <a:avLst/>
          </a:prstGeom>
          <a:solidFill>
            <a:srgbClr val="12233D"/>
          </a:solidFill>
          <a:ln w="12700">
            <a:solidFill>
              <a:srgbClr val="1223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0" y="6355080"/>
            <a:ext cx="1801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Sim posts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829800" y="6355080"/>
            <a:ext cx="1801368" cy="320040"/>
          </a:xfrm>
          <a:prstGeom prst="rect">
            <a:avLst/>
          </a:prstGeom>
          <a:solidFill>
            <a:srgbClr val="12233D"/>
          </a:solidFill>
          <a:ln w="12700">
            <a:solidFill>
              <a:srgbClr val="1223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29800" y="6355080"/>
            <a:ext cx="1801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Recipients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1325880"/>
            <a:ext cx="6583680" cy="4754880"/>
          </a:xfrm>
          <a:prstGeom prst="rect">
            <a:avLst/>
          </a:prstGeom>
          <a:solidFill>
            <a:srgbClr val="12233D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141732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TO  V1..V4 (d=2)  &amp;  W1..W3 (d=3)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485900" y="3497580"/>
            <a:ext cx="1828800" cy="-1554480"/>
          </a:xfrm>
          <a:prstGeom prst="line">
            <a:avLst/>
          </a:prstGeom>
          <a:noFill/>
          <a:ln w="12700">
            <a:solidFill>
              <a:srgbClr val="1F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485900" y="3497580"/>
            <a:ext cx="1828800" cy="-822960"/>
          </a:xfrm>
          <a:prstGeom prst="line">
            <a:avLst/>
          </a:prstGeom>
          <a:noFill/>
          <a:ln w="12700">
            <a:solidFill>
              <a:srgbClr val="1F3A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5900" y="3497580"/>
            <a:ext cx="1828800" cy="0"/>
          </a:xfrm>
          <a:prstGeom prst="line">
            <a:avLst/>
          </a:prstGeom>
          <a:noFill/>
          <a:ln w="12700">
            <a:solidFill>
              <a:srgbClr val="1F3A5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485900" y="3497580"/>
            <a:ext cx="1828800" cy="822960"/>
          </a:xfrm>
          <a:prstGeom prst="line">
            <a:avLst/>
          </a:prstGeom>
          <a:noFill/>
          <a:ln w="12700">
            <a:solidFill>
              <a:srgbClr val="1F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485900" y="3497580"/>
            <a:ext cx="1828800" cy="1554480"/>
          </a:xfrm>
          <a:prstGeom prst="line">
            <a:avLst/>
          </a:prstGeom>
          <a:noFill/>
          <a:ln w="12700">
            <a:solidFill>
              <a:srgbClr val="1F3A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14700" y="1943100"/>
            <a:ext cx="1828800" cy="182880"/>
          </a:xfrm>
          <a:prstGeom prst="line">
            <a:avLst/>
          </a:prstGeom>
          <a:noFill/>
          <a:ln w="12700">
            <a:solidFill>
              <a:srgbClr val="1F3A5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14700" y="2674620"/>
            <a:ext cx="1828800" cy="274320"/>
          </a:xfrm>
          <a:prstGeom prst="line">
            <a:avLst/>
          </a:prstGeom>
          <a:noFill/>
          <a:ln w="12700">
            <a:solidFill>
              <a:srgbClr val="1F3A5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14700" y="3497580"/>
            <a:ext cx="1828800" cy="-548640"/>
          </a:xfrm>
          <a:prstGeom prst="line">
            <a:avLst/>
          </a:prstGeom>
          <a:noFill/>
          <a:ln w="12700">
            <a:solidFill>
              <a:srgbClr val="1F3A5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14700" y="3497580"/>
            <a:ext cx="1828800" cy="365760"/>
          </a:xfrm>
          <a:prstGeom prst="line">
            <a:avLst/>
          </a:prstGeom>
          <a:noFill/>
          <a:ln w="12700">
            <a:solidFill>
              <a:srgbClr val="1F3A5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14700" y="4320540"/>
            <a:ext cx="1828800" cy="-457200"/>
          </a:xfrm>
          <a:prstGeom prst="line">
            <a:avLst/>
          </a:prstGeom>
          <a:noFill/>
          <a:ln w="12700">
            <a:solidFill>
              <a:srgbClr val="1F3A5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14700" y="5052060"/>
            <a:ext cx="1828800" cy="-274320"/>
          </a:xfrm>
          <a:prstGeom prst="line">
            <a:avLst/>
          </a:prstGeom>
          <a:noFill/>
          <a:ln w="12700">
            <a:solidFill>
              <a:srgbClr val="1F3A5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143500" y="2125980"/>
            <a:ext cx="1645920" cy="365760"/>
          </a:xfrm>
          <a:prstGeom prst="line">
            <a:avLst/>
          </a:prstGeom>
          <a:noFill/>
          <a:ln w="12700">
            <a:solidFill>
              <a:srgbClr val="1F3A5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143500" y="2948940"/>
            <a:ext cx="1645920" cy="548640"/>
          </a:xfrm>
          <a:prstGeom prst="line">
            <a:avLst/>
          </a:prstGeom>
          <a:noFill/>
          <a:ln w="12700">
            <a:solidFill>
              <a:srgbClr val="1F3A5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143500" y="3863340"/>
            <a:ext cx="1645920" cy="-365760"/>
          </a:xfrm>
          <a:prstGeom prst="line">
            <a:avLst/>
          </a:prstGeom>
          <a:noFill/>
          <a:ln w="12700">
            <a:solidFill>
              <a:srgbClr val="1F3A5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143500" y="4777740"/>
            <a:ext cx="1645920" cy="-365760"/>
          </a:xfrm>
          <a:prstGeom prst="line">
            <a:avLst/>
          </a:prstGeom>
          <a:noFill/>
          <a:ln w="12700">
            <a:solidFill>
              <a:srgbClr val="1F3A5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485900" y="3497580"/>
            <a:ext cx="3657600" cy="-1371600"/>
          </a:xfrm>
          <a:prstGeom prst="line">
            <a:avLst/>
          </a:prstGeom>
          <a:noFill/>
          <a:ln w="19050">
            <a:solidFill>
              <a:srgbClr val="22D3EE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1485900" y="3497580"/>
            <a:ext cx="3657600" cy="-548640"/>
          </a:xfrm>
          <a:prstGeom prst="line">
            <a:avLst/>
          </a:prstGeom>
          <a:noFill/>
          <a:ln w="19050">
            <a:solidFill>
              <a:srgbClr val="22D3EE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1485900" y="3497580"/>
            <a:ext cx="3657600" cy="365760"/>
          </a:xfrm>
          <a:prstGeom prst="line">
            <a:avLst/>
          </a:prstGeom>
          <a:noFill/>
          <a:ln w="19050">
            <a:solidFill>
              <a:srgbClr val="22D3EE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1485900" y="3497580"/>
            <a:ext cx="3657600" cy="1280160"/>
          </a:xfrm>
          <a:prstGeom prst="line">
            <a:avLst/>
          </a:prstGeom>
          <a:noFill/>
          <a:ln w="19050">
            <a:solidFill>
              <a:srgbClr val="22D3EE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1485900" y="3497580"/>
            <a:ext cx="5303520" cy="-1005840"/>
          </a:xfrm>
          <a:prstGeom prst="line">
            <a:avLst/>
          </a:prstGeom>
          <a:noFill/>
          <a:ln w="19050">
            <a:solidFill>
              <a:srgbClr val="22D3EE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1485900" y="3497580"/>
            <a:ext cx="530352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dash"/>
          </a:ln>
        </p:spPr>
      </p:sp>
      <p:sp>
        <p:nvSpPr>
          <p:cNvPr id="41" name="Shape 39"/>
          <p:cNvSpPr/>
          <p:nvPr/>
        </p:nvSpPr>
        <p:spPr>
          <a:xfrm>
            <a:off x="1485900" y="3497580"/>
            <a:ext cx="5303520" cy="914400"/>
          </a:xfrm>
          <a:prstGeom prst="line">
            <a:avLst/>
          </a:prstGeom>
          <a:noFill/>
          <a:ln w="19050">
            <a:solidFill>
              <a:srgbClr val="22D3EE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1280160" y="3291840"/>
            <a:ext cx="411480" cy="4114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280160" y="3291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108960" y="1737360"/>
            <a:ext cx="411480" cy="4114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108960" y="1737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108960" y="2468880"/>
            <a:ext cx="411480" cy="4114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108960" y="2468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108960" y="3291840"/>
            <a:ext cx="411480" cy="4114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108960" y="3291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U3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108960" y="4114800"/>
            <a:ext cx="411480" cy="4114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108960" y="4114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U4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108960" y="4846320"/>
            <a:ext cx="411480" cy="4114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108960" y="4846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937760" y="1920240"/>
            <a:ext cx="411480" cy="41148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937760" y="1920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937760" y="2743200"/>
            <a:ext cx="411480" cy="41148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937760" y="2743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937760" y="3657600"/>
            <a:ext cx="411480" cy="41148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937760" y="3657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937760" y="4572000"/>
            <a:ext cx="411480" cy="41148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937760" y="4572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6583680" y="2286000"/>
            <a:ext cx="411480" cy="41148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583680" y="2286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583680" y="3291840"/>
            <a:ext cx="411480" cy="41148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583680" y="3291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583680" y="4206240"/>
            <a:ext cx="411480" cy="41148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83680" y="4206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7315200" y="1325880"/>
            <a:ext cx="4572000" cy="914400"/>
          </a:xfrm>
          <a:prstGeom prst="rect">
            <a:avLst/>
          </a:prstGeom>
          <a:solidFill>
            <a:srgbClr val="12233D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452360" y="139903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timeline:user:U1  (d=1)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7452360" y="1709928"/>
            <a:ext cx="42976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9.50  P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7315200" y="2286000"/>
            <a:ext cx="4572000" cy="914400"/>
          </a:xfrm>
          <a:prstGeom prst="rect">
            <a:avLst/>
          </a:prstGeom>
          <a:solidFill>
            <a:srgbClr val="12233D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452360" y="235915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timeline:user:V1  (d=2)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7452360" y="2670048"/>
            <a:ext cx="42976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8.50  P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7315200" y="3246120"/>
            <a:ext cx="4572000" cy="914400"/>
          </a:xfrm>
          <a:prstGeom prst="rect">
            <a:avLst/>
          </a:prstGeom>
          <a:solidFill>
            <a:srgbClr val="12233D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452360" y="331927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timeline:user:V3  (d=2)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7452360" y="3630168"/>
            <a:ext cx="42976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8.50  P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7315200" y="4206240"/>
            <a:ext cx="4572000" cy="914400"/>
          </a:xfrm>
          <a:prstGeom prst="rect">
            <a:avLst/>
          </a:prstGeom>
          <a:solidFill>
            <a:srgbClr val="12233D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452360" y="427939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timeline:user:W1  (d=3)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7452360" y="4590288"/>
            <a:ext cx="42976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7.92  P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7315200" y="5166360"/>
            <a:ext cx="4572000" cy="914400"/>
          </a:xfrm>
          <a:prstGeom prst="rect">
            <a:avLst/>
          </a:prstGeom>
          <a:solidFill>
            <a:srgbClr val="12233D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452360" y="523951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timeline:user:W3  (d=3)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7452360" y="5550408"/>
            <a:ext cx="42976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7.92  P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457200" y="5852160"/>
            <a:ext cx="6583680" cy="411480"/>
          </a:xfrm>
          <a:prstGeom prst="rect">
            <a:avLst/>
          </a:prstGeom>
          <a:solidFill>
            <a:srgbClr val="1B3461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94360" y="58521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d=1 → 9.50  ·  d=2 → 8.50  ·  d=3 → 7.92  (postScore = 9.50, − log₂ d)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3657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17320" y="27432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via similarity path — interactors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417320" y="8412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8F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originalPost → [SIMILAR_TO * d_sim] → similarPost ← interactors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6355080"/>
            <a:ext cx="1801368" cy="3200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355080"/>
            <a:ext cx="1801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Score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331720" y="6355080"/>
            <a:ext cx="1801368" cy="3200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31720" y="6355080"/>
            <a:ext cx="1801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Traverse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06240" y="6355080"/>
            <a:ext cx="1801368" cy="3200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0" y="6355080"/>
            <a:ext cx="1801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Fan-out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80760" y="6355080"/>
            <a:ext cx="1801368" cy="3200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80760" y="6355080"/>
            <a:ext cx="1801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Sim path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955280" y="6355080"/>
            <a:ext cx="1801368" cy="320040"/>
          </a:xfrm>
          <a:prstGeom prst="rect">
            <a:avLst/>
          </a:prstGeom>
          <a:solidFill>
            <a:srgbClr val="12233D"/>
          </a:solidFill>
          <a:ln w="12700">
            <a:solidFill>
              <a:srgbClr val="1223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0" y="6355080"/>
            <a:ext cx="1801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Sim posts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829800" y="6355080"/>
            <a:ext cx="1801368" cy="320040"/>
          </a:xfrm>
          <a:prstGeom prst="rect">
            <a:avLst/>
          </a:prstGeom>
          <a:solidFill>
            <a:srgbClr val="12233D"/>
          </a:solidFill>
          <a:ln w="12700">
            <a:solidFill>
              <a:srgbClr val="1223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29800" y="6355080"/>
            <a:ext cx="1801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Recipients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1325880"/>
            <a:ext cx="7772400" cy="4754880"/>
          </a:xfrm>
          <a:prstGeom prst="rect">
            <a:avLst/>
          </a:prstGeom>
          <a:solidFill>
            <a:srgbClr val="12233D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141732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→ INTERACTORS  (Postgres post_votes)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97280" y="3657600"/>
            <a:ext cx="457200" cy="45720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4400" y="41605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325880" y="3886200"/>
            <a:ext cx="2011680" cy="-1097280"/>
          </a:xfrm>
          <a:prstGeom prst="line">
            <a:avLst/>
          </a:prstGeom>
          <a:noFill/>
          <a:ln w="12700">
            <a:solidFill>
              <a:srgbClr val="1F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108960" y="2560320"/>
            <a:ext cx="457200" cy="4572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0896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017520" y="306324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d=1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325880" y="3886200"/>
            <a:ext cx="2011680" cy="0"/>
          </a:xfrm>
          <a:prstGeom prst="line">
            <a:avLst/>
          </a:prstGeom>
          <a:noFill/>
          <a:ln w="12700">
            <a:solidFill>
              <a:srgbClr val="1F3A5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108960" y="3657600"/>
            <a:ext cx="457200" cy="4572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0896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017520" y="416052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d=1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325880" y="3886200"/>
            <a:ext cx="2011680" cy="1097280"/>
          </a:xfrm>
          <a:prstGeom prst="line">
            <a:avLst/>
          </a:prstGeom>
          <a:noFill/>
          <a:ln w="12700">
            <a:solidFill>
              <a:srgbClr val="1F3A5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108960" y="4754880"/>
            <a:ext cx="457200" cy="4572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0896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017520" y="525780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d=1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337560" y="2788920"/>
            <a:ext cx="1988820" cy="-342900"/>
          </a:xfrm>
          <a:prstGeom prst="line">
            <a:avLst/>
          </a:prstGeom>
          <a:noFill/>
          <a:ln w="12700">
            <a:solidFill>
              <a:srgbClr val="FBBF24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3337560" y="2788920"/>
            <a:ext cx="1988820" cy="342900"/>
          </a:xfrm>
          <a:prstGeom prst="line">
            <a:avLst/>
          </a:prstGeom>
          <a:noFill/>
          <a:ln w="12700">
            <a:solidFill>
              <a:srgbClr val="FBBF24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3337560" y="3886200"/>
            <a:ext cx="1988820" cy="-68580"/>
          </a:xfrm>
          <a:prstGeom prst="line">
            <a:avLst/>
          </a:prstGeom>
          <a:noFill/>
          <a:ln w="12700">
            <a:solidFill>
              <a:srgbClr val="FBBF24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3337560" y="4983480"/>
            <a:ext cx="1988820" cy="-480060"/>
          </a:xfrm>
          <a:prstGeom prst="line">
            <a:avLst/>
          </a:prstGeom>
          <a:noFill/>
          <a:ln w="12700">
            <a:solidFill>
              <a:srgbClr val="FBBF24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3337560" y="4983480"/>
            <a:ext cx="1988820" cy="205740"/>
          </a:xfrm>
          <a:prstGeom prst="line">
            <a:avLst/>
          </a:prstGeom>
          <a:noFill/>
          <a:ln w="12700">
            <a:solidFill>
              <a:srgbClr val="FBBF24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5120640" y="2240280"/>
            <a:ext cx="411480" cy="41148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120640" y="2240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I1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120640" y="2926080"/>
            <a:ext cx="411480" cy="41148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120640" y="2926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120640" y="3611880"/>
            <a:ext cx="411480" cy="41148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20640" y="3611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I3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120640" y="4297680"/>
            <a:ext cx="411480" cy="41148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120640" y="4297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I4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120640" y="4983480"/>
            <a:ext cx="411480" cy="41148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120640" y="4983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I5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40080" y="16916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post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2743200" y="16916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posts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754880" y="16916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interactors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40080" y="5669280"/>
            <a:ext cx="7315200" cy="365760"/>
          </a:xfrm>
          <a:prstGeom prst="rect">
            <a:avLst/>
          </a:prstGeom>
          <a:solidFill>
            <a:srgbClr val="1B3461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77240" y="566928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user_id FROM post_votes WHERE post_id IN (P1, P2, P3)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8412480" y="1325880"/>
            <a:ext cx="3291840" cy="4754880"/>
          </a:xfrm>
          <a:prstGeom prst="rect">
            <a:avLst/>
          </a:prstGeom>
          <a:solidFill>
            <a:srgbClr val="12233D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595360" y="1417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WORKS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8595360" y="1783080"/>
            <a:ext cx="3108960" cy="4206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who voted 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posts are likely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engage with this one.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we don't fan out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the interactors —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followers might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 it too.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Step 4b: get their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followers (1-hop)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3657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17320" y="27432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 path — followers of interactors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417320" y="8412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8F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Single-hop FOLLOWS;  assign each user the shallowest sim depth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6355080"/>
            <a:ext cx="1801368" cy="3200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355080"/>
            <a:ext cx="1801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Score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331720" y="6355080"/>
            <a:ext cx="1801368" cy="3200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31720" y="6355080"/>
            <a:ext cx="1801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Traverse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06240" y="6355080"/>
            <a:ext cx="1801368" cy="3200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0" y="6355080"/>
            <a:ext cx="1801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Fan-out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80760" y="6355080"/>
            <a:ext cx="1801368" cy="3200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80760" y="6355080"/>
            <a:ext cx="1801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Sim path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955280" y="6355080"/>
            <a:ext cx="1801368" cy="320040"/>
          </a:xfrm>
          <a:prstGeom prst="rect">
            <a:avLst/>
          </a:prstGeom>
          <a:solidFill>
            <a:srgbClr val="12233D"/>
          </a:solidFill>
          <a:ln w="12700">
            <a:solidFill>
              <a:srgbClr val="1223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0" y="6355080"/>
            <a:ext cx="1801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Sim posts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829800" y="6355080"/>
            <a:ext cx="1801368" cy="320040"/>
          </a:xfrm>
          <a:prstGeom prst="rect">
            <a:avLst/>
          </a:prstGeom>
          <a:solidFill>
            <a:srgbClr val="12233D"/>
          </a:solidFill>
          <a:ln w="12700">
            <a:solidFill>
              <a:srgbClr val="1223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29800" y="6355080"/>
            <a:ext cx="1801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Recipients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1325880"/>
            <a:ext cx="7772400" cy="4754880"/>
          </a:xfrm>
          <a:prstGeom prst="rect">
            <a:avLst/>
          </a:prstGeom>
          <a:solidFill>
            <a:srgbClr val="12233D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141732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INTERACTORS → THEIR FOLLOWERS  →  FAN OUT (sim path)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0" y="1691640"/>
            <a:ext cx="457200" cy="45720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903720" y="180136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post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097280" y="2743200"/>
            <a:ext cx="411480" cy="41148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97280" y="2743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I1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097280" y="3657600"/>
            <a:ext cx="411480" cy="41148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97280" y="3657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097280" y="4572000"/>
            <a:ext cx="411480" cy="41148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97280" y="4572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I3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097280" y="5486400"/>
            <a:ext cx="411480" cy="41148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97280" y="5486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I4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303020" y="2948940"/>
            <a:ext cx="3017520" cy="-274320"/>
          </a:xfrm>
          <a:prstGeom prst="line">
            <a:avLst/>
          </a:prstGeom>
          <a:noFill/>
          <a:ln w="12700">
            <a:solidFill>
              <a:srgbClr val="1F3A5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303020" y="2948940"/>
            <a:ext cx="3017520" cy="274320"/>
          </a:xfrm>
          <a:prstGeom prst="line">
            <a:avLst/>
          </a:prstGeom>
          <a:noFill/>
          <a:ln w="12700">
            <a:solidFill>
              <a:srgbClr val="1F3A5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303020" y="3863340"/>
            <a:ext cx="3017520" cy="-91440"/>
          </a:xfrm>
          <a:prstGeom prst="line">
            <a:avLst/>
          </a:prstGeom>
          <a:noFill/>
          <a:ln w="12700">
            <a:solidFill>
              <a:srgbClr val="1F3A5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303020" y="3863340"/>
            <a:ext cx="3017520" cy="457200"/>
          </a:xfrm>
          <a:prstGeom prst="line">
            <a:avLst/>
          </a:prstGeom>
          <a:noFill/>
          <a:ln w="12700">
            <a:solidFill>
              <a:srgbClr val="1F3A5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303020" y="4777740"/>
            <a:ext cx="3017520" cy="91440"/>
          </a:xfrm>
          <a:prstGeom prst="line">
            <a:avLst/>
          </a:prstGeom>
          <a:noFill/>
          <a:ln w="12700">
            <a:solidFill>
              <a:srgbClr val="1F3A5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303020" y="5692140"/>
            <a:ext cx="3017520" cy="-274320"/>
          </a:xfrm>
          <a:prstGeom prst="line">
            <a:avLst/>
          </a:prstGeom>
          <a:noFill/>
          <a:ln w="12700">
            <a:solidFill>
              <a:srgbClr val="1F3A5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303020" y="5692140"/>
            <a:ext cx="3017520" cy="274320"/>
          </a:xfrm>
          <a:prstGeom prst="line">
            <a:avLst/>
          </a:prstGeom>
          <a:noFill/>
          <a:ln w="12700">
            <a:solidFill>
              <a:srgbClr val="1F3A5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114800" y="2468880"/>
            <a:ext cx="411480" cy="4114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14800" y="2468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114800" y="3017520"/>
            <a:ext cx="411480" cy="4114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14800" y="3017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114800" y="3566160"/>
            <a:ext cx="411480" cy="4114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14800" y="3566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114800" y="4114800"/>
            <a:ext cx="411480" cy="4114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14800" y="4114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114800" y="4663440"/>
            <a:ext cx="411480" cy="4114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14800" y="4663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114800" y="5212080"/>
            <a:ext cx="411480" cy="4114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14800" y="5212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114800" y="5760720"/>
            <a:ext cx="411480" cy="4114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114800" y="5760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629400" y="2148840"/>
            <a:ext cx="-2103120" cy="525780"/>
          </a:xfrm>
          <a:prstGeom prst="line">
            <a:avLst/>
          </a:prstGeom>
          <a:noFill/>
          <a:ln w="15240">
            <a:solidFill>
              <a:srgbClr val="22D3EE"/>
            </a:solidFill>
            <a:prstDash val="dash"/>
          </a:ln>
        </p:spPr>
      </p:sp>
      <p:sp>
        <p:nvSpPr>
          <p:cNvPr id="53" name="Shape 51"/>
          <p:cNvSpPr/>
          <p:nvPr/>
        </p:nvSpPr>
        <p:spPr>
          <a:xfrm>
            <a:off x="6629400" y="2148840"/>
            <a:ext cx="-2103120" cy="1074420"/>
          </a:xfrm>
          <a:prstGeom prst="line">
            <a:avLst/>
          </a:prstGeom>
          <a:noFill/>
          <a:ln w="15240">
            <a:solidFill>
              <a:srgbClr val="22D3EE"/>
            </a:solidFill>
            <a:prstDash val="dash"/>
          </a:ln>
        </p:spPr>
      </p:sp>
      <p:sp>
        <p:nvSpPr>
          <p:cNvPr id="54" name="Shape 52"/>
          <p:cNvSpPr/>
          <p:nvPr/>
        </p:nvSpPr>
        <p:spPr>
          <a:xfrm>
            <a:off x="6629400" y="2148840"/>
            <a:ext cx="-2103120" cy="1623060"/>
          </a:xfrm>
          <a:prstGeom prst="line">
            <a:avLst/>
          </a:prstGeom>
          <a:noFill/>
          <a:ln w="15240">
            <a:solidFill>
              <a:srgbClr val="22D3EE"/>
            </a:solidFill>
            <a:prstDash val="dash"/>
          </a:ln>
        </p:spPr>
      </p:sp>
      <p:sp>
        <p:nvSpPr>
          <p:cNvPr id="55" name="Shape 53"/>
          <p:cNvSpPr/>
          <p:nvPr/>
        </p:nvSpPr>
        <p:spPr>
          <a:xfrm>
            <a:off x="6629400" y="2148840"/>
            <a:ext cx="-2103120" cy="2171700"/>
          </a:xfrm>
          <a:prstGeom prst="line">
            <a:avLst/>
          </a:prstGeom>
          <a:noFill/>
          <a:ln w="15240">
            <a:solidFill>
              <a:srgbClr val="22D3EE"/>
            </a:solidFill>
            <a:prstDash val="dash"/>
          </a:ln>
        </p:spPr>
      </p:sp>
      <p:sp>
        <p:nvSpPr>
          <p:cNvPr id="56" name="Shape 54"/>
          <p:cNvSpPr/>
          <p:nvPr/>
        </p:nvSpPr>
        <p:spPr>
          <a:xfrm>
            <a:off x="6629400" y="2148840"/>
            <a:ext cx="-2103120" cy="2720340"/>
          </a:xfrm>
          <a:prstGeom prst="line">
            <a:avLst/>
          </a:prstGeom>
          <a:noFill/>
          <a:ln w="15240">
            <a:solidFill>
              <a:srgbClr val="22D3EE"/>
            </a:solidFill>
            <a:prstDash val="dash"/>
          </a:ln>
        </p:spPr>
      </p:sp>
      <p:sp>
        <p:nvSpPr>
          <p:cNvPr id="57" name="Shape 55"/>
          <p:cNvSpPr/>
          <p:nvPr/>
        </p:nvSpPr>
        <p:spPr>
          <a:xfrm>
            <a:off x="6629400" y="2148840"/>
            <a:ext cx="-2103120" cy="3268980"/>
          </a:xfrm>
          <a:prstGeom prst="line">
            <a:avLst/>
          </a:prstGeom>
          <a:noFill/>
          <a:ln w="15240">
            <a:solidFill>
              <a:srgbClr val="22D3EE"/>
            </a:solidFill>
            <a:prstDash val="dash"/>
          </a:ln>
        </p:spPr>
      </p:sp>
      <p:sp>
        <p:nvSpPr>
          <p:cNvPr id="58" name="Shape 56"/>
          <p:cNvSpPr/>
          <p:nvPr/>
        </p:nvSpPr>
        <p:spPr>
          <a:xfrm>
            <a:off x="6629400" y="2148840"/>
            <a:ext cx="-2103120" cy="3817620"/>
          </a:xfrm>
          <a:prstGeom prst="line">
            <a:avLst/>
          </a:prstGeom>
          <a:noFill/>
          <a:ln w="15240">
            <a:solidFill>
              <a:srgbClr val="22D3EE"/>
            </a:solidFill>
            <a:prstDash val="dash"/>
          </a:ln>
        </p:spPr>
      </p:sp>
      <p:sp>
        <p:nvSpPr>
          <p:cNvPr id="59" name="Text 57"/>
          <p:cNvSpPr/>
          <p:nvPr/>
        </p:nvSpPr>
        <p:spPr>
          <a:xfrm>
            <a:off x="868680" y="23317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interactors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3886200" y="20574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followers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8412480" y="1325880"/>
            <a:ext cx="3291840" cy="4754880"/>
          </a:xfrm>
          <a:prstGeom prst="rect">
            <a:avLst/>
          </a:prstGeom>
          <a:solidFill>
            <a:srgbClr val="12233D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595360" y="1417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(sim path)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8595360" y="1783080"/>
            <a:ext cx="3108960" cy="4206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fanOutScore =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postScore − log₂(d_sim)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8FA8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sim paths above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8FA8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are at d_sim = 1: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S1..S7 → 9.50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ZADD GT keeps the max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a user already has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 post via follower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tree.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3657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17320" y="27432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 resolution — ZADD GT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417320" y="8412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8F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user qualifies via both paths, keep the higher score (= shallower depth)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6355080"/>
            <a:ext cx="1801368" cy="3200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355080"/>
            <a:ext cx="1801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Score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331720" y="6355080"/>
            <a:ext cx="1801368" cy="3200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31720" y="6355080"/>
            <a:ext cx="1801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Traverse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06240" y="6355080"/>
            <a:ext cx="1801368" cy="3200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0" y="6355080"/>
            <a:ext cx="1801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Fan-out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80760" y="6355080"/>
            <a:ext cx="1801368" cy="3200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80760" y="6355080"/>
            <a:ext cx="1801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Sim path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955280" y="6355080"/>
            <a:ext cx="1801368" cy="320040"/>
          </a:xfrm>
          <a:prstGeom prst="rect">
            <a:avLst/>
          </a:prstGeom>
          <a:solidFill>
            <a:srgbClr val="12233D"/>
          </a:solidFill>
          <a:ln w="12700">
            <a:solidFill>
              <a:srgbClr val="1223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0" y="6355080"/>
            <a:ext cx="1801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Sim posts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829800" y="6355080"/>
            <a:ext cx="1801368" cy="320040"/>
          </a:xfrm>
          <a:prstGeom prst="rect">
            <a:avLst/>
          </a:prstGeom>
          <a:solidFill>
            <a:srgbClr val="12233D"/>
          </a:solidFill>
          <a:ln w="12700">
            <a:solidFill>
              <a:srgbClr val="1223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29800" y="6355080"/>
            <a:ext cx="1801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Recipients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2743200"/>
            <a:ext cx="2743200" cy="1280160"/>
          </a:xfrm>
          <a:prstGeom prst="rect">
            <a:avLst/>
          </a:prstGeom>
          <a:solidFill>
            <a:srgbClr val="1B3461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2788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09160" y="3154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8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timeline:user:U3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09160" y="3520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9.50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14400" y="1417320"/>
            <a:ext cx="3200400" cy="1097280"/>
          </a:xfrm>
          <a:prstGeom prst="rect">
            <a:avLst/>
          </a:prstGeom>
          <a:solidFill>
            <a:srgbClr val="12233D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7280" y="14630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FOLLOWER TREE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97280" y="17830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U3 is a depth-1 follower of 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97280" y="21031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ZADD U3 GT 9.50  P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114800" y="1965960"/>
            <a:ext cx="594360" cy="1143000"/>
          </a:xfrm>
          <a:prstGeom prst="line">
            <a:avLst/>
          </a:prstGeom>
          <a:noFill/>
          <a:ln w="25400">
            <a:solidFill>
              <a:srgbClr val="14B8A6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8046720" y="4023360"/>
            <a:ext cx="3200400" cy="1097280"/>
          </a:xfrm>
          <a:prstGeom prst="rect">
            <a:avLst/>
          </a:prstGeom>
          <a:solidFill>
            <a:srgbClr val="12233D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0" y="40690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PATH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229600" y="43891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U3 also follows interactor I2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229600" y="4709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ZADD U3 GT 8.50  P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046720" y="4572000"/>
            <a:ext cx="-594360" cy="-1051560"/>
          </a:xfrm>
          <a:prstGeom prst="line">
            <a:avLst/>
          </a:prstGeom>
          <a:noFill/>
          <a:ln w="25400">
            <a:solidFill>
              <a:srgbClr val="FBBF24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457200" y="5440680"/>
            <a:ext cx="11247120" cy="731520"/>
          </a:xfrm>
          <a:prstGeom prst="rect">
            <a:avLst/>
          </a:prstGeom>
          <a:solidFill>
            <a:srgbClr val="1B3461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54406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U3 keeps  9.50  (the follower-tree score). The lower 8.50 is silently rejected by GT.  </a:t>
            </a:r>
            <a:pPr indent="0" marL="0">
              <a:buNone/>
            </a:pPr>
            <a:r>
              <a:rPr lang="en-US" sz="140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implements  min(d_follow, d_sim)  for free.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3657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17320" y="27432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similar posts to all reached users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417320" y="8412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8F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similar post gets its own postScore + double attenuation: −log₂(d_sim) − log₂(d_follow)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6355080"/>
            <a:ext cx="1801368" cy="3200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355080"/>
            <a:ext cx="1801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Score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331720" y="6355080"/>
            <a:ext cx="1801368" cy="3200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31720" y="6355080"/>
            <a:ext cx="1801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Traverse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06240" y="6355080"/>
            <a:ext cx="1801368" cy="3200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0" y="6355080"/>
            <a:ext cx="1801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Fan-out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80760" y="6355080"/>
            <a:ext cx="1801368" cy="3200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80760" y="6355080"/>
            <a:ext cx="1801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Sim path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955280" y="6355080"/>
            <a:ext cx="1801368" cy="3200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0" y="6355080"/>
            <a:ext cx="1801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Sim posts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829800" y="6355080"/>
            <a:ext cx="1801368" cy="320040"/>
          </a:xfrm>
          <a:prstGeom prst="rect">
            <a:avLst/>
          </a:prstGeom>
          <a:solidFill>
            <a:srgbClr val="12233D"/>
          </a:solidFill>
          <a:ln w="12700">
            <a:solidFill>
              <a:srgbClr val="1223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29800" y="6355080"/>
            <a:ext cx="1801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Recipients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1325880"/>
            <a:ext cx="11247120" cy="914400"/>
          </a:xfrm>
          <a:prstGeom prst="rect">
            <a:avLst/>
          </a:prstGeom>
          <a:solidFill>
            <a:srgbClr val="12233D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1417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score(simPost, recipient) = 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1783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simPostScore</a:t>
            </a:r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−  log₂(d_sim)</a:t>
            </a:r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−  log₂(d_follow)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57200" y="2468880"/>
            <a:ext cx="3611880" cy="3657600"/>
          </a:xfrm>
          <a:prstGeom prst="rect">
            <a:avLst/>
          </a:prstGeom>
          <a:solidFill>
            <a:srgbClr val="12233D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2468880"/>
            <a:ext cx="73152" cy="36576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26517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— sim depth 1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1520" y="30632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simPostScore = 8.8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31520" y="3566160"/>
            <a:ext cx="3246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RECIPIENT  →  SCORE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U1 (d=1)       8.80</a:t>
            </a:r>
            <a:endParaRPr lang="en-US" sz="10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V2 (d=2)       7.80</a:t>
            </a:r>
            <a:endParaRPr lang="en-US" sz="10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W1 (d=3)       7.22</a:t>
            </a:r>
            <a:endParaRPr lang="en-US" sz="10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 (sim only)  8.80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31520" y="574243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7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(skip if score &lt; minFeedScore)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251960" y="2468880"/>
            <a:ext cx="3611880" cy="3657600"/>
          </a:xfrm>
          <a:prstGeom prst="rect">
            <a:avLst/>
          </a:prstGeom>
          <a:solidFill>
            <a:srgbClr val="12233D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251960" y="2468880"/>
            <a:ext cx="73152" cy="36576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26280" y="26517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— sim depth 1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26280" y="30632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simPostScore = 9.1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26280" y="3566160"/>
            <a:ext cx="3246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RECIPIENT  →  SCORE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U1 (d=1)       9.10</a:t>
            </a:r>
            <a:endParaRPr lang="en-US" sz="10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V2 (d=2)       8.10</a:t>
            </a:r>
            <a:endParaRPr lang="en-US" sz="10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W1 (d=3)       7.52</a:t>
            </a:r>
            <a:endParaRPr lang="en-US" sz="10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 (sim only)  9.10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26280" y="574243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7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(skip if score &lt; minFeedScore)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8046720" y="2468880"/>
            <a:ext cx="3611880" cy="3657600"/>
          </a:xfrm>
          <a:prstGeom prst="rect">
            <a:avLst/>
          </a:prstGeom>
          <a:solidFill>
            <a:srgbClr val="12233D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046720" y="2468880"/>
            <a:ext cx="73152" cy="36576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21040" y="26517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— sim depth 2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321040" y="30632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simPostScore = 7.4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321040" y="3566160"/>
            <a:ext cx="3246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RECIPIENT  →  SCORE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U1 (d=1)       6.40</a:t>
            </a:r>
            <a:endParaRPr lang="en-US" sz="10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V2 (d=2)       5.40</a:t>
            </a:r>
            <a:endParaRPr lang="en-US" sz="1000" dirty="0"/>
          </a:p>
          <a:p>
            <a:pPr indent="0" marL="0">
              <a:buNone/>
            </a:pPr>
            <a:r>
              <a:rPr lang="en-US" sz="1100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W1 (d=3)       4.82  ✗</a:t>
            </a:r>
            <a:endParaRPr lang="en-US" sz="10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 (sim only)  6.40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321040" y="574243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7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(skip if score &lt; minFeedScore)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3657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17320" y="27432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recipients map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417320" y="8412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8F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score-update propagation when this post's vote count changes later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6355080"/>
            <a:ext cx="1801368" cy="3200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355080"/>
            <a:ext cx="1801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Score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331720" y="6355080"/>
            <a:ext cx="1801368" cy="3200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31720" y="6355080"/>
            <a:ext cx="1801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Traverse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06240" y="6355080"/>
            <a:ext cx="1801368" cy="3200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0" y="6355080"/>
            <a:ext cx="1801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Fan-out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80760" y="6355080"/>
            <a:ext cx="1801368" cy="3200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80760" y="6355080"/>
            <a:ext cx="1801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Sim path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955280" y="6355080"/>
            <a:ext cx="1801368" cy="3200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0" y="6355080"/>
            <a:ext cx="1801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Sim posts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829800" y="6355080"/>
            <a:ext cx="1801368" cy="3200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29800" y="6355080"/>
            <a:ext cx="1801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Recipients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1417320"/>
            <a:ext cx="6400800" cy="4572000"/>
          </a:xfrm>
          <a:prstGeom prst="rect">
            <a:avLst/>
          </a:prstGeom>
          <a:solidFill>
            <a:srgbClr val="12233D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150876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RECIPIENTS RECORD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1874520"/>
            <a:ext cx="5852160" cy="4023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post: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P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recipients: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5A73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follower tree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U1, U2, U3, U4, U5            (d=1)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V1, V2, V3, V4                (d=2)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W1, W2, W3                    (d=3)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5A73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similarity path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S1, S2, S3, S4, S5, S6, S7    (sim)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5A73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author (always include)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                             (self)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132320" y="1417320"/>
            <a:ext cx="4572000" cy="4572000"/>
          </a:xfrm>
          <a:prstGeom prst="rect">
            <a:avLst/>
          </a:prstGeom>
          <a:solidFill>
            <a:srgbClr val="12233D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0" y="15087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STORE THIS?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0" y="1874520"/>
            <a:ext cx="4206240" cy="4023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Later, votes accumulate.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Wilson q changes.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|Δscore| &gt; threshold: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for each recipient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if not viewed: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ZADD GT new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8F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this map, we'd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8F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to re-traverse both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8F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from scratch on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8F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vote update.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Properties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F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signals compose additively in score units. ZADD GT implements min(d_follow, d_sim) for free.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3703320" cy="3657600"/>
          </a:xfrm>
          <a:prstGeom prst="rect">
            <a:avLst/>
          </a:prstGeom>
          <a:solidFill>
            <a:srgbClr val="12233D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08760"/>
            <a:ext cx="3703320" cy="914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288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log₂(q · QScale)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2004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unit = 2× quality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6576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Wilson 95% CI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42062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A7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448056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q=0.5 → 9.0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q=0.7 → 9.5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q=0.96 → 9.91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25112" y="1508760"/>
            <a:ext cx="3703320" cy="3657600"/>
          </a:xfrm>
          <a:prstGeom prst="rect">
            <a:avLst/>
          </a:prstGeom>
          <a:solidFill>
            <a:srgbClr val="12233D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25112" y="1508760"/>
            <a:ext cx="3703320" cy="9144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99432" y="18288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FRESHNESS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99432" y="237744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 − epoch) / (H·3600)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99432" y="32004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unit = 1 half-life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99432" y="36576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Linear, never overflows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99432" y="42062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A7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99432" y="448056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age=0 → 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age=H → −1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age=2H → −2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93024" y="1508760"/>
            <a:ext cx="3703320" cy="3657600"/>
          </a:xfrm>
          <a:prstGeom prst="rect">
            <a:avLst/>
          </a:prstGeom>
          <a:solidFill>
            <a:srgbClr val="12233D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93024" y="1508760"/>
            <a:ext cx="3703320" cy="91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67344" y="18288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467344" y="237744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−log₂(depth)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467344" y="32004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unit = 2× graph distance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467344" y="36576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recipient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467344" y="42062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A7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467344" y="448056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d=1 → 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d=2 → −1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d=4 → −2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5440680"/>
            <a:ext cx="11247120" cy="868680"/>
          </a:xfrm>
          <a:prstGeom prst="rect">
            <a:avLst/>
          </a:prstGeom>
          <a:solidFill>
            <a:srgbClr val="1B3461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54864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fanOutScore = </a:t>
            </a:r>
            <a:pPr indent="0" marL="0">
              <a:buNone/>
            </a:pPr>
            <a:r>
              <a:rPr lang="en-US" sz="17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log₂(q·QScale)</a:t>
            </a:r>
            <a:pPr indent="0" marL="0">
              <a:buNone/>
            </a:pPr>
            <a:r>
              <a:rPr lang="en-US" sz="1700" dirty="0">
                <a:solidFill>
                  <a:srgbClr val="8FA8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  </a:t>
            </a:r>
            <a:pPr indent="0" marL="0">
              <a:buNone/>
            </a:pPr>
            <a:r>
              <a:rPr lang="en-US" sz="17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 − epoch)/(H·3600)</a:t>
            </a:r>
            <a:pPr indent="0" marL="0">
              <a:buNone/>
            </a:pPr>
            <a:r>
              <a:rPr lang="en-US" sz="1700" dirty="0">
                <a:solidFill>
                  <a:srgbClr val="8FA8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−  </a:t>
            </a:r>
            <a:pPr indent="0" marL="0">
              <a:buNone/>
            </a:pPr>
            <a:r>
              <a:rPr lang="en-US" sz="17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log₂(min(d_follow, d_sim))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State — what U3 sees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F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one FeedUpdateWorkflow run, U3's ZSET contains: the new post + its similar posts, all permanently scored.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7772400" cy="4846320"/>
          </a:xfrm>
          <a:prstGeom prst="rect">
            <a:avLst/>
          </a:prstGeom>
          <a:solidFill>
            <a:srgbClr val="12233D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5448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ZRANGE timeline:user:U3 0 -1 WITHSCORES  (descending)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7589520" cy="457200"/>
          </a:xfrm>
          <a:prstGeom prst="rect">
            <a:avLst/>
          </a:prstGeom>
          <a:solidFill>
            <a:srgbClr val="1B3461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9659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9.50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920240" y="19659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297680" y="19659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the new post (depth 1)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4688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9.10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920240" y="2468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297680" y="24688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similar post (sim d=1, follow d=1)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29718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8.80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920240" y="2971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297680" y="29718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similar post (sim d=1, follow d=1)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34747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FA8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8.20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920240" y="3474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older_post_X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297680" y="34747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previously fanned out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39776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7.40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920240" y="3977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297680" y="39776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similar (sim d=2, follow d=1)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44805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FA8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6.85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920240" y="4480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older_post_Y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297680" y="44805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previously fanned out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1520" y="49834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A73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5.20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920240" y="4983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older_post_Z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297680" y="49834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7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aged-down post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503920" y="1463040"/>
            <a:ext cx="3200400" cy="4846320"/>
          </a:xfrm>
          <a:prstGeom prst="rect">
            <a:avLst/>
          </a:prstGeom>
          <a:solidFill>
            <a:srgbClr val="12233D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0" y="15544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PROPERTIES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686800" y="1874520"/>
            <a:ext cx="2834640" cy="4297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Numerically stable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system lifetime.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recomputation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time decay.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Pagination-safe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(immutable scores).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ZADD GT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free min() rule.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Aging is implicit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newer arrivals.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Feed Update Workflow</dc:title>
  <dc:subject>PptxGenJS Presentation</dc:subject>
  <dc:creator>Feed System Design</dc:creator>
  <cp:lastModifiedBy>Feed System Design</cp:lastModifiedBy>
  <cp:revision>1</cp:revision>
  <dcterms:created xsi:type="dcterms:W3CDTF">2026-05-10T14:03:36Z</dcterms:created>
  <dcterms:modified xsi:type="dcterms:W3CDTF">2026-05-10T14:03:36Z</dcterms:modified>
</cp:coreProperties>
</file>